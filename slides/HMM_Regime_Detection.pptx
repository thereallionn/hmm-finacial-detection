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3" name="Image 0" descr="/home/claude/icons/tren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0561320" y="23317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ZCAS UNIVERSITY  ·  MSC DATA SCIENCE  ·  GROUP 11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774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Financial Market Regimes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Hidden Markov Models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HMM decodes Bull, Bear, and Sideways regimes from five years of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S&amp;P 500 (^GSPC) returns and rolling volatility.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394960"/>
            <a:ext cx="100584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   ·   Mardochee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small number of hidden states explain five years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S&amp;P 500 behaviour?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26155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245973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S&amp;P 500 as switches between a small number of unobserved market regimes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47472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3575670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41985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model only two observable signals per day: the log return and a 10-day rolling volatility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4535790"/>
            <a:ext cx="218724" cy="2187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437997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regimes and how long they persist directly from data — no manual bull/bear labelling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543800" y="685800"/>
            <a:ext cx="4114800" cy="5257800"/>
          </a:xfrm>
          <a:prstGeom prst="roundRect">
            <a:avLst>
              <a:gd name="adj" fmla="val 1778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818120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THE DECODED OUTPUT</a:t>
            </a:r>
            <a:endParaRPr lang="en-US" sz="1050" dirty="0"/>
          </a:p>
        </p:txBody>
      </p:sp>
      <p:pic>
        <p:nvPicPr>
          <p:cNvPr id="15" name="Image 3" descr="/home/claude/regime_time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325880"/>
            <a:ext cx="3566160" cy="14081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818120" y="2834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regimes recovered without any manual labels — details in the Results section.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Hidden Markov Model?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90472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persist. A HMM's transition matrix models that explicitly — today's regime depends on yesterday's, unlike k-means or GMM clustering on individual days.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60904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Viterbi decodes the single most likely PATH through time, not just an independent label per day.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831336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regime is its own 2-D Gaussian over (return, volatility) — the mixture that Task 2.4 already showed fits the data far better than one pooled Gaussian.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LAYER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281160" y="1828800"/>
            <a:ext cx="41148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698480" y="1828800"/>
            <a:ext cx="41148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275320" y="941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75320" y="1325880"/>
            <a:ext cx="1005840" cy="100584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700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941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92640" y="1325880"/>
            <a:ext cx="1005840" cy="1005840"/>
          </a:xfrm>
          <a:prstGeom prst="ellipse">
            <a:avLst/>
          </a:prstGeom>
          <a:solidFill>
            <a:srgbClr val="95A5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1700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09960" y="941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09960" y="1325880"/>
            <a:ext cx="1005840" cy="100584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109960" y="1700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95560" y="2331720"/>
            <a:ext cx="0" cy="50292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29600" y="2834640"/>
            <a:ext cx="3749040" cy="777240"/>
          </a:xfrm>
          <a:prstGeom prst="roundRect">
            <a:avLst>
              <a:gd name="adj" fmla="val 7059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66760" y="28986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each day: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 &amp; rolling volatility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DATA MANAGEMENT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prices to a model-ready matrix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68680" cy="8686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5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212872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8288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^GSPC via yfinance,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with metadata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490472" y="2354580"/>
            <a:ext cx="1225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788920" y="1920240"/>
            <a:ext cx="868680" cy="8686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403" y="212872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46888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clean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weekends,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forward-filling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730752" y="2354580"/>
            <a:ext cx="1225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029200" y="1920240"/>
            <a:ext cx="868680" cy="8686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5" name="Image 2" descr="/home/claude/icons/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683" y="212872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ln(Pₜ / Pₜ₋₁)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971032" y="2354580"/>
            <a:ext cx="1225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269480" y="1920240"/>
            <a:ext cx="868680" cy="8686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0" name="Image 3" descr="/home/claude/icons/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963" y="212872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standard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of returns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211312" y="2354580"/>
            <a:ext cx="1225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9509760" y="1920240"/>
            <a:ext cx="868680" cy="8686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5" name="Image 4" descr="/home/claude/icons/dia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243" y="2128723"/>
            <a:ext cx="451714" cy="45171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89720" y="28986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matrix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914400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(return, volatility)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trading day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48640" y="4709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4892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1,254</a:t>
            </a:r>
            <a:endParaRPr lang="en-US" sz="30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trading days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3383280" y="4892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1,245</a:t>
            </a: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338328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feature warm-up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943600" y="4892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yrs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594360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2021 → Sep 2026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503920" y="4892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6" name="Text 29"/>
          <p:cNvSpPr txBox="1"/>
          <p:nvPr/>
        </p:nvSpPr>
        <p:spPr>
          <a:xfrm>
            <a:off x="8503920" y="5440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return + volatility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 DECISION WORTH DEFENDING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never fill in non-trading days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and holidays are not missing observations — the market is simply closed. Treating them as data would quietly distort the two signals the whole model depends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DEEEC"/>
          </a:solidFill>
          <a:ln w="12700">
            <a:solidFill>
              <a:srgbClr val="F6C7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606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Forward-fill weekends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4480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artificial “flat” return days that never happened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deflates rolling volatility — the model reads the market as calmer than it was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Manufactures fake autocorrelation between adjacent “days”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233172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E9F7E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606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Drop non-trading days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108960"/>
            <a:ext cx="4480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 return in the dataset reflects a real trading session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 is computed only over genuine market activity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regime the HMM learns is a statement about real trading, not calendar artefacts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TASK 2.1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returns have fat tails, not a bell curve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629400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5" name="Image 0" descr="/home/claude/hmm_project/HMM-FINANCIAL-MODELING-PROJECT-master/reports/figures/01_return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355080" cy="2807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+6.28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kurtosis (0 = normal)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 test rejects normality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383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— close to symmetric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4389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26680" y="45720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Gaussian cannot reproduce these tails. This is the direct motivation for a MIXTURE of regime-conditional Gaussians — the HMM's states — instead of one distribution for all five years.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TASK 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clusters in time — it isn't noise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62940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5" name="Image 0" descr="/home/claude/hmm_project/HMM-FINANCIAL-MODELING-PROJECT-master/reports/figures/02_volatility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35508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+0.96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autocorrelation of volatility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15×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min volatility ratio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3474720"/>
            <a:ext cx="4114800" cy="2834640"/>
          </a:xfrm>
          <a:prstGeom prst="roundRect">
            <a:avLst>
              <a:gd name="adj" fmla="val 1935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36576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and turbulent stretches persist for weeks, not single days. That persistence is exactly what a memory-less clustering method would miss — and exactly what the HMM's transition matrix is built to exploit.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TASK 2.3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and volatility carry different information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629400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5" name="Image 0" descr="/home/claude/hmm_project/HMM-FINANCIAL-MODELING-PROJECT-master/reports/figures/03_return_volatility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355080" cy="2807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+0.003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corr(signed return, volatility) — sign cancels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+0.488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corr(|return|, volatility) — magnitude link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383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−0.161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corr(return, volatility +10d) — leverage effect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4389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26680" y="45720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signed correlation but a clear unsigned one: the two features are complementary, not redundant. This justifies feeding the HMM the PAIR (return, volatility), not either alone.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TASK 2.4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Gaussian, per state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69280" cy="3739896"/>
          </a:xfrm>
          <a:prstGeom prst="roundRect">
            <a:avLst>
              <a:gd name="adj" fmla="val 14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5" name="Image 0" descr="/home/claude/hmm_project/HMM-FINANCIAL-MODELING-PROJECT-master/reports/figures/04_emission_distribution_ch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394960" cy="34655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37960" y="15544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BIC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2011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3-component mixture beats 1 component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37960" y="2560320"/>
            <a:ext cx="5074920" cy="3749040"/>
          </a:xfrm>
          <a:prstGeom prst="roundRect">
            <a:avLst>
              <a:gd name="adj" fmla="val 1463"/>
            </a:avLst>
          </a:prstGeom>
          <a:solidFill>
            <a:srgbClr val="0B25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274320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GaussianHMM(n_components=3, covariance_type=“full”).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Gaussian was already rejected (2.1). A mixture of 3 fits the pooled shape far better and each component maps onto an interpretable regime.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TASK 3.2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Fitting the Gaussian HMM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880360" y="157276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Baum-Welch (EM) for fitting, Viterbi for decoding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350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 = 3  (Bear / Sideways / Bull)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312724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covariance_type = “full” — each regime gets its own return–volatility covariance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RESTARTS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90448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restarts from different seeds; keep the highest training log-likelihood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9884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RESTART?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46817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only guarantees a LOCAL optimum — a single fit can land on a mediocre solution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276088"/>
            <a:ext cx="7406640" cy="0"/>
          </a:xfrm>
          <a:prstGeom prst="line">
            <a:avLst/>
          </a:prstGeom>
          <a:noFill/>
          <a:ln w="12700">
            <a:solidFill>
              <a:srgbClr val="E4EA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0B2545"/>
          </a:solidFill>
          <a:ln/>
        </p:spPr>
      </p:sp>
      <p:sp>
        <p:nvSpPr>
          <p:cNvPr id="20" name="Shape 18"/>
          <p:cNvSpPr/>
          <p:nvPr/>
        </p:nvSpPr>
        <p:spPr>
          <a:xfrm>
            <a:off x="8549640" y="182880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1" name="Image 0" descr="/home/claude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0341" y="1949501"/>
            <a:ext cx="261518" cy="26151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549640" y="2514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src.model import fit_best_model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GaussianHMM(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n_components=3,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covariance_type="full",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n_iter=1000, tol=1e-4,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random_state=seed,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).fit(train_matrix)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TRAIN split only — the test period never touches the parameters.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TASKS 3.1 &amp;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split, not random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would let the model “see the future” during training. Instead the first ~4 years train the model; the last ~1 year evaluates it on genuinely unseen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685844" cy="50292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9234484" y="2331720"/>
            <a:ext cx="2195516" cy="502920"/>
          </a:xfrm>
          <a:prstGeom prst="roundRect">
            <a:avLst>
              <a:gd name="adj" fmla="val 7273"/>
            </a:avLst>
          </a:prstGeom>
          <a:solidFill>
            <a:srgbClr val="F2A5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423160"/>
            <a:ext cx="8411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993 days · Sep 2021 – Aug 2025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325924" y="2423160"/>
            <a:ext cx="2012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250 days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0881360" cy="2606040"/>
          </a:xfrm>
          <a:prstGeom prst="roundRect">
            <a:avLst>
              <a:gd name="adj" fmla="val 2807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74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CHECK — AVERAGE LOG-LIKELIHOOD PER OBSERVATION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77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+7.51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(log-lik / obs)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977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+7.81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(log-lik / obs)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977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(train − test)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074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negative — the model fits the unseen test year at least as well as training data. No sign of overfitting to the training window's specific regimes.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TASKS 3.3 &amp; 3.5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regimes, decoded across five years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5" name="Image 0" descr="/home/claude/regime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1083564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4348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46177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9377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return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688336" y="4937760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+0.068%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52303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volatility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688336" y="5230368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0.76%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5522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duration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688336" y="5522976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≈101 days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58155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sample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688336" y="5815584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44348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07408" y="4617720"/>
            <a:ext cx="146304" cy="146304"/>
          </a:xfrm>
          <a:prstGeom prst="ellipse">
            <a:avLst/>
          </a:prstGeom>
          <a:solidFill>
            <a:srgbClr val="95A5A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177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407408" y="49377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return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345936" y="4937760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−0.026%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407408" y="52303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volatility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345936" y="5230368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1.53%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07408" y="5522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duration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345936" y="5522976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≈33 days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407408" y="58155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sample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345936" y="5815584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863840" y="443484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5F8FC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65008" y="4617720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2753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065008" y="49377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return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003536" y="4937760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−0.342%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065008" y="523036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volatility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10003536" y="5230368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3.50%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065008" y="552297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duration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10003536" y="5522976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≈13 days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065008" y="58155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sample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10003536" y="5815584"/>
            <a:ext cx="117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INTERACTIVE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regimes in Streamlit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337560" y="1417320"/>
            <a:ext cx="83667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5875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0" y="1417320"/>
            <a:ext cx="8366760" cy="347472"/>
          </a:xfrm>
          <a:prstGeom prst="roundRect">
            <a:avLst>
              <a:gd name="adj" fmla="val 21053"/>
            </a:avLst>
          </a:prstGeom>
          <a:solidFill>
            <a:srgbClr val="EDF1F6"/>
          </a:solidFill>
          <a:ln/>
        </p:spPr>
      </p:sp>
      <p:sp>
        <p:nvSpPr>
          <p:cNvPr id="6" name="Shape 4"/>
          <p:cNvSpPr/>
          <p:nvPr/>
        </p:nvSpPr>
        <p:spPr>
          <a:xfrm>
            <a:off x="3502152" y="1536192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3721608" y="15361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Shape 6"/>
          <p:cNvSpPr/>
          <p:nvPr/>
        </p:nvSpPr>
        <p:spPr>
          <a:xfrm>
            <a:off x="3941064" y="1536192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472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19202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E4EA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regime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19202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E4EA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87568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68756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2026-08-31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9202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E4EA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99248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(days)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69924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0" y="19202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5F8FC"/>
          </a:solidFill>
          <a:ln w="12700">
            <a:solidFill>
              <a:srgbClr val="E4EA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10928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710928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2" name="Image 0" descr="/home/claude/regime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5984" y="2743200"/>
            <a:ext cx="7069912" cy="27889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3566160" y="5660136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(not shown): date-range picker, train/test toggle, regime legend, raw-data table.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— LAYOUT PREVIEW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6" name="Image 1" descr="/home/claude/icons/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" y="1962302"/>
            <a:ext cx="190195" cy="19019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51560" y="185623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saved model — never re-fits on page load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48640" y="289864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9" name="Image 2" descr="/home/claude/icons/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986430"/>
            <a:ext cx="190195" cy="19019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51560" y="28803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chart, regime-shaded background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922776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2" name="Image 3" descr="/home/claude/icons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" y="4010558"/>
            <a:ext cx="190195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51560" y="39044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date-range filter + train/test split toggle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48640" y="4946904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5" name="Image 4" descr="/home/claude/icons/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" y="5034686"/>
            <a:ext cx="190195" cy="1901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51560" y="4928616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regime statistics table (return, volatility, duration)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5" name="Image 0" descr="/home/claude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6276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emissions can't capture skew within a regime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count fixed at 3, not selected via a BIC/AIC search over 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sorted post-hoc by mean return — still worth a manual sanity check each run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contains very few true bear markets: Bear is only ≈1% of decoded days, a heavily imbalanced class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9" name="Image 1" descr="/home/claude/icons/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664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03720" y="16276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309360" y="219456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vs. 4+ states, or a Student-t emission HMM for heavier tails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macro features (VIX, yield-curve spread) to the observation vector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re-fitting instead of one static train/test split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a simple regime-conditioned trading rule as an economic sanity check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learned regimes recover recognizable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S&amp;P 500 history — with no manual labelling.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76.8%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switches, 5 yrs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0149840" cy="0"/>
          </a:xfrm>
          <a:prstGeom prst="line">
            <a:avLst/>
          </a:prstGeom>
          <a:noFill/>
          <a:ln w="19050">
            <a:solidFill>
              <a:srgbClr val="1331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434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HMM · hmmlearn · Baum-Welch + Viterbi · chronological evaluation · Streamlit dashboard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   ·   Mardochee   ·   ZCAS University, Group 11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2026-09-11T06:28:04Z</dcterms:created>
  <dcterms:modified xsi:type="dcterms:W3CDTF">2026-09-11T06:28:04Z</dcterms:modified>
</cp:coreProperties>
</file>